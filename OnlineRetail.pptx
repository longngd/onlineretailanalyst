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15"/>
  </p:notesMasterIdLst>
  <p:handoutMasterIdLst>
    <p:handoutMasterId r:id="rId16"/>
  </p:handoutMasterIdLst>
  <p:sldIdLst>
    <p:sldId id="257" r:id="rId2"/>
    <p:sldId id="258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8" r:id="rId11"/>
    <p:sldId id="267" r:id="rId12"/>
    <p:sldId id="269" r:id="rId13"/>
    <p:sldId id="270" r:id="rId14"/>
  </p:sldIdLst>
  <p:sldSz cx="12192000" cy="6858000"/>
  <p:notesSz cx="6858000" cy="9144000"/>
  <p:defaultTextStyle>
    <a:defPPr rtl="0"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73" autoAdjust="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outlineViewPr>
    <p:cViewPr>
      <p:scale>
        <a:sx n="33" d="100"/>
        <a:sy n="33" d="100"/>
      </p:scale>
      <p:origin x="0" y="-2772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ỗ dành sẵn cho đầ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1C88EFE-5FE7-482F-AE64-58275078C99B}" type="datetime1">
              <a:rPr lang="vi-VN" smtClean="0"/>
              <a:t>13/01/2025</a:t>
            </a:fld>
            <a:endParaRPr lang="en-US" dirty="0"/>
          </a:p>
        </p:txBody>
      </p:sp>
      <p:sp>
        <p:nvSpPr>
          <p:cNvPr id="4" name="Chỗ dành sẵn cho Chân trang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Chỗ dành sẵn cho Số hiệu Bản chiế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75D426-A9DD-4244-A2CE-1FB662374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844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ỗ dành sẵn cho đầ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A7D0FE4-691E-4B26-9A9E-DEB86E6A321F}" type="datetime1">
              <a:rPr lang="vi-VN" smtClean="0"/>
              <a:t>13/01/2025</a:t>
            </a:fld>
            <a:endParaRPr lang="en-US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vi"/>
              <a:t>Bấm để chỉnh sửa kiểu văn bản Bản cái</a:t>
            </a:r>
            <a:endParaRPr lang="en-US"/>
          </a:p>
          <a:p>
            <a:pPr lvl="1" rtl="0"/>
            <a:r>
              <a:rPr lang="vi"/>
              <a:t>Mức hai</a:t>
            </a:r>
          </a:p>
          <a:p>
            <a:pPr lvl="2" rtl="0"/>
            <a:r>
              <a:rPr lang="vi"/>
              <a:t>Mức ba</a:t>
            </a:r>
          </a:p>
          <a:p>
            <a:pPr lvl="3" rtl="0"/>
            <a:r>
              <a:rPr lang="vi"/>
              <a:t>Mức bốn</a:t>
            </a:r>
          </a:p>
          <a:p>
            <a:pPr lvl="4" rtl="0"/>
            <a:r>
              <a:rPr lang="vi"/>
              <a:t>Mức năm</a:t>
            </a:r>
            <a:endParaRPr lang="en-US"/>
          </a:p>
        </p:txBody>
      </p:sp>
      <p:sp>
        <p:nvSpPr>
          <p:cNvPr id="6" name="Chỗ dành sẵ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B41D33-19C8-4450-B3C5-BE83E9C8F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5525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rang chiếu Tiêu đ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ình chữ nhật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êu đề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Chỗ dành sẵn cho Ngày tháng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5A9AB08-9BB3-4409-990A-73B5AF314B08}" type="datetime1">
              <a:rPr lang="vi-VN" smtClean="0"/>
              <a:t>13/01/2025</a:t>
            </a:fld>
            <a:endParaRPr lang="en-US" dirty="0"/>
          </a:p>
        </p:txBody>
      </p:sp>
      <p:sp>
        <p:nvSpPr>
          <p:cNvPr id="9" name="Chỗ dành sẵn cho Chân trang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Chỗ dành sẵn cho Số Trang chiếu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ề và Nộ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hỗ dành sẵn cho nội dung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hỗ dành sẵn cho Ngày tháng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9E5547D-1B8E-486F-9659-F0F7627F8547}" type="datetime1">
              <a:rPr lang="vi-VN" smtClean="0"/>
              <a:t>13/01/2025</a:t>
            </a:fld>
            <a:endParaRPr lang="en-US" dirty="0"/>
          </a:p>
        </p:txBody>
      </p:sp>
      <p:sp>
        <p:nvSpPr>
          <p:cNvPr id="9" name="Chỗ dành sẵn cho Chân trang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Chỗ dành sẵn cho Số Trang chiếu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ầu trang của Mụ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ình chữ nhật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rtlCol="0" anchor="b">
            <a:normAutofit/>
          </a:bodyPr>
          <a:lstStyle>
            <a:lvl1pPr algn="l">
              <a:defRPr sz="3600" b="1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6521BAD-CD35-440C-B1A9-311AFB591079}" type="datetime1">
              <a:rPr lang="vi-VN" smtClean="0"/>
              <a:t>13/01/2025</a:t>
            </a:fld>
            <a:endParaRPr lang="en-US" dirty="0"/>
          </a:p>
        </p:txBody>
      </p:sp>
      <p:sp>
        <p:nvSpPr>
          <p:cNvPr id="9" name="Chỗ dành sẵn cho Chân trang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Chỗ dành sẵn cho Số Trang chiếu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ộ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hỗ dành sẵn cho nội dung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hỗ dành sẵn cho nội dung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B268195-E7EA-4BEF-8A3D-6C67F281509E}" type="datetime1">
              <a:rPr lang="vi-VN" smtClean="0"/>
              <a:t>13/01/2025</a:t>
            </a:fld>
            <a:endParaRPr lang="en-US" dirty="0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 sá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êu đề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rtlCol="0"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4" name="Chỗ dành sẵn cho nội dung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Chỗ dành sẵn cho Văn bản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hỗ dành sẵn cho nội dung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hỗ dành sẵn cho Ngày tháng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03BFE86-5726-4FD1-B002-5A5054089ADC}" type="datetime1">
              <a:rPr lang="vi-VN" smtClean="0"/>
              <a:t>13/01/2025</a:t>
            </a:fld>
            <a:endParaRPr lang="en-US" dirty="0"/>
          </a:p>
        </p:txBody>
      </p:sp>
      <p:sp>
        <p:nvSpPr>
          <p:cNvPr id="8" name="Chỗ dành sẵn cho Chân trang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Chỗ dành sẵn cho số trang chiếu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ỉ Tiêu đ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êu đề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C6CC7A9-1EA9-4F6A-BD8A-FD5805FC20E9}" type="datetime1">
              <a:rPr lang="vi-VN" smtClean="0"/>
              <a:t>13/01/2025</a:t>
            </a:fld>
            <a:endParaRPr lang="en-US" dirty="0"/>
          </a:p>
        </p:txBody>
      </p:sp>
      <p:sp>
        <p:nvSpPr>
          <p:cNvPr id="4" name="Chỗ dành sẵn cho Chân trang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Chỗ dành sẵn cho Số hiệu Bản chiếu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ố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19D6F02-20B5-4CCC-B0C9-4DC5F7651934}" type="datetime1">
              <a:rPr lang="vi-VN" smtClean="0"/>
              <a:t>13/01/2025</a:t>
            </a:fld>
            <a:endParaRPr lang="en-US" dirty="0"/>
          </a:p>
        </p:txBody>
      </p:sp>
      <p:sp>
        <p:nvSpPr>
          <p:cNvPr id="3" name="Chỗ dành sẵn cho Chân trang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Chỗ dành sẵn cho số hiệu trang chiế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ội dung có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ình chữ nhật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rtlCol="0" anchor="b">
            <a:normAutofit/>
          </a:bodyPr>
          <a:lstStyle>
            <a:lvl1pPr algn="l">
              <a:defRPr sz="2400" b="1">
                <a:solidFill>
                  <a:srgbClr val="FFFFFF"/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hỗ dành sẵn cho nội dung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hỗ dành sẵn cho văn bản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8" name="Chỗ dành sẵn cho Ngày tháng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 rtlCol="0"/>
          <a:lstStyle/>
          <a:p>
            <a:pPr rtl="0"/>
            <a:fld id="{957198F6-105D-482F-A0ED-36594C95EF28}" type="datetime1">
              <a:rPr lang="vi-VN" smtClean="0"/>
              <a:t>13/01/2025</a:t>
            </a:fld>
            <a:endParaRPr lang="en-US" dirty="0"/>
          </a:p>
        </p:txBody>
      </p:sp>
      <p:sp>
        <p:nvSpPr>
          <p:cNvPr id="10" name="Chỗ dành sẵn cho Chân trang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Ảnh có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hỗ dành sẵn cho Hình ảnh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Chỗ dành sẵn cho văn bản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079BCD0-07DA-45ED-AD7C-0F1543ECECCD}" type="datetime1">
              <a:rPr lang="vi-VN" smtClean="0"/>
              <a:t>13/01/2025</a:t>
            </a:fld>
            <a:endParaRPr lang="en-US" dirty="0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êu đề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hỗ dành sẵn cho Văn bản Dọc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81D78C8-3010-4B51-899B-7F3819407D01}" type="datetime1">
              <a:rPr lang="vi-VN" smtClean="0"/>
              <a:t>13/01/2025</a:t>
            </a:fld>
            <a:endParaRPr lang="en-US" dirty="0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Chỗ dành sẵn cho số trang chiế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ình chữ nhật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êu đề Dọc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rtlCol="0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hỗ dành sẵn cho Văn bản Dọc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rtlCol="0" anchor="t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Hình chữ nhật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Chỗ dành sẵn cho Ngày tháng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74BB169-361A-4A01-B5DF-AD2905CF5E2C}" type="datetime1">
              <a:rPr lang="vi-VN" smtClean="0"/>
              <a:t>13/01/2025</a:t>
            </a:fld>
            <a:endParaRPr lang="en-US" dirty="0"/>
          </a:p>
        </p:txBody>
      </p:sp>
      <p:sp>
        <p:nvSpPr>
          <p:cNvPr id="12" name="Chỗ dành sẵn cho Chân trang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3" name="Chỗ dành sẵn cho Số hiệu Bản chiếu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vi" dirty="0"/>
              <a:t>Bấm để chỉnh sửa kiểu tiêu đề Bản cái</a:t>
            </a:r>
            <a:endParaRPr lang="en-US" dirty="0"/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vi" dirty="0"/>
              <a:t>Bấm để chỉnh sửa kiểu văn bản Bản cái</a:t>
            </a:r>
          </a:p>
          <a:p>
            <a:pPr lvl="1" rtl="0"/>
            <a:r>
              <a:rPr lang="vi" dirty="0"/>
              <a:t>Mức hai</a:t>
            </a:r>
          </a:p>
          <a:p>
            <a:pPr lvl="2" rtl="0"/>
            <a:r>
              <a:rPr lang="vi" dirty="0"/>
              <a:t>Mức ba</a:t>
            </a:r>
          </a:p>
          <a:p>
            <a:pPr lvl="3" rtl="0"/>
            <a:r>
              <a:rPr lang="vi" dirty="0"/>
              <a:t>Mức bốn</a:t>
            </a:r>
          </a:p>
          <a:p>
            <a:pPr lvl="4" rtl="0"/>
            <a:r>
              <a:rPr lang="vi" dirty="0"/>
              <a:t>Mức năm</a:t>
            </a:r>
            <a:endParaRPr lang="en-US" dirty="0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BBF60F59-9916-4E36-9AA9-CA4290C9D226}" type="datetime1">
              <a:rPr lang="vi-VN" smtClean="0"/>
              <a:t>13/01/2025</a:t>
            </a:fld>
            <a:endParaRPr lang="en-US" dirty="0"/>
          </a:p>
        </p:txBody>
      </p:sp>
      <p:sp>
        <p:nvSpPr>
          <p:cNvPr id="5" name="Chỗ dành sẵn cho chân trang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Hình chữ nhật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Hình chữ nhật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Hình chữ nhật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1" kern="1200" cap="all">
          <a:solidFill>
            <a:schemeClr val="tx1">
              <a:lumMod val="75000"/>
              <a:lumOff val="25000"/>
            </a:schemeClr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Hình chữ nhật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êu đề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 rtlCol="0">
            <a:normAutofit/>
          </a:bodyPr>
          <a:lstStyle/>
          <a:p>
            <a:pPr rtl="0"/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khúc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endParaRPr lang="vi" dirty="0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468233"/>
          </a:xfrm>
        </p:spPr>
        <p:txBody>
          <a:bodyPr rtlCol="0">
            <a:normAutofit/>
          </a:bodyPr>
          <a:lstStyle/>
          <a:p>
            <a:pPr rtl="0"/>
            <a:r>
              <a:rPr lang="en-US" dirty="0"/>
              <a:t>Online retail</a:t>
            </a:r>
            <a:endParaRPr lang="vi" dirty="0"/>
          </a:p>
        </p:txBody>
      </p:sp>
      <p:sp>
        <p:nvSpPr>
          <p:cNvPr id="20" name="Hình chữ nhật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vi-VN"/>
          </a:p>
        </p:txBody>
      </p:sp>
      <p:sp>
        <p:nvSpPr>
          <p:cNvPr id="22" name="Hình chữ nhật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vi-VN"/>
          </a:p>
        </p:txBody>
      </p:sp>
      <p:sp>
        <p:nvSpPr>
          <p:cNvPr id="24" name="Hình chữ nhật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vi-VN"/>
          </a:p>
        </p:txBody>
      </p:sp>
      <p:pic>
        <p:nvPicPr>
          <p:cNvPr id="6" name="Hình ảnh 5" descr="Cận cảnh logo&#10;&#10;Mô tả được tự động tạo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733" y="3081867"/>
            <a:ext cx="11260667" cy="33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A8B65-956A-8F78-2BBE-792B14D3E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lục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24EC8-D4CB-FA77-3C86-7A1C9AA70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1707353"/>
          </a:xfrm>
        </p:spPr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vi </a:t>
            </a:r>
            <a:r>
              <a:rPr lang="en-US" dirty="0" err="1"/>
              <a:t>mua</a:t>
            </a:r>
            <a:r>
              <a:rPr lang="en-US" dirty="0"/>
              <a:t> </a:t>
            </a:r>
            <a:r>
              <a:rPr lang="en-US" dirty="0" err="1"/>
              <a:t>sắm</a:t>
            </a:r>
            <a:endParaRPr lang="en-US" dirty="0"/>
          </a:p>
          <a:p>
            <a:r>
              <a:rPr lang="en-US" dirty="0"/>
              <a:t>2.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endParaRPr lang="en-US" dirty="0"/>
          </a:p>
          <a:p>
            <a:r>
              <a:rPr lang="en-US" dirty="0"/>
              <a:t>3.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khúc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4009260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D4B33-00C8-4295-15DA-7DEB02F64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/>
          <a:p>
            <a:r>
              <a:rPr lang="en-US" dirty="0"/>
              <a:t>1.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vi </a:t>
            </a:r>
            <a:r>
              <a:rPr lang="en-US" dirty="0" err="1"/>
              <a:t>mua</a:t>
            </a:r>
            <a:r>
              <a:rPr lang="en-US" dirty="0"/>
              <a:t> </a:t>
            </a:r>
            <a:r>
              <a:rPr lang="en-US" dirty="0" err="1"/>
              <a:t>sắm</a:t>
            </a:r>
            <a:endParaRPr lang="vi-V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FCBDAB-7DEF-1246-195B-46F0E9602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/>
          <a:p>
            <a:r>
              <a:rPr lang="en-US" dirty="0"/>
              <a:t>- Chi </a:t>
            </a:r>
            <a:r>
              <a:rPr lang="en-US" dirty="0" err="1"/>
              <a:t>tiêu</a:t>
            </a:r>
            <a:r>
              <a:rPr lang="en-US" dirty="0"/>
              <a:t>: </a:t>
            </a:r>
            <a:r>
              <a:rPr lang="en-US" dirty="0">
                <a:solidFill>
                  <a:srgbClr val="FFFF00"/>
                </a:solidFill>
              </a:rPr>
              <a:t>$2,054</a:t>
            </a:r>
            <a:r>
              <a:rPr lang="en-US" dirty="0"/>
              <a:t>/</a:t>
            </a:r>
            <a:r>
              <a:rPr lang="en-US" dirty="0" err="1"/>
              <a:t>khách</a:t>
            </a:r>
            <a:endParaRPr lang="en-US" dirty="0"/>
          </a:p>
          <a:p>
            <a:r>
              <a:rPr lang="en-US" dirty="0"/>
              <a:t>-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suất</a:t>
            </a:r>
            <a:r>
              <a:rPr lang="en-US" dirty="0"/>
              <a:t>: </a:t>
            </a:r>
            <a:r>
              <a:rPr lang="en-US" dirty="0">
                <a:solidFill>
                  <a:srgbClr val="FFFF00"/>
                </a:solidFill>
              </a:rPr>
              <a:t>4,27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/</a:t>
            </a:r>
            <a:r>
              <a:rPr lang="en-US" dirty="0" err="1"/>
              <a:t>khách</a:t>
            </a:r>
            <a:endParaRPr lang="en-US" dirty="0"/>
          </a:p>
          <a:p>
            <a:r>
              <a:rPr lang="en-US" dirty="0"/>
              <a:t>- Top 10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mua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xuyên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, top 10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chi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nhất</a:t>
            </a:r>
            <a:endParaRPr lang="en-US" dirty="0"/>
          </a:p>
          <a:p>
            <a:r>
              <a:rPr lang="en-US" dirty="0"/>
              <a:t>-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quốc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: </a:t>
            </a:r>
            <a:r>
              <a:rPr lang="en-US" dirty="0">
                <a:solidFill>
                  <a:srgbClr val="FFFF00"/>
                </a:solidFill>
              </a:rPr>
              <a:t>37</a:t>
            </a:r>
          </a:p>
          <a:p>
            <a:r>
              <a:rPr lang="en-US" dirty="0"/>
              <a:t>-</a:t>
            </a:r>
            <a:r>
              <a:rPr lang="en-US" dirty="0" err="1"/>
              <a:t>Quốc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 </a:t>
            </a:r>
            <a:r>
              <a:rPr lang="en-US" dirty="0" err="1"/>
              <a:t>tỷ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thu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: </a:t>
            </a:r>
            <a:r>
              <a:rPr lang="en-US" dirty="0">
                <a:solidFill>
                  <a:srgbClr val="FFFF00"/>
                </a:solidFill>
              </a:rPr>
              <a:t>Anh </a:t>
            </a:r>
            <a:r>
              <a:rPr lang="en-US" dirty="0" err="1">
                <a:solidFill>
                  <a:srgbClr val="FFFF00"/>
                </a:solidFill>
              </a:rPr>
              <a:t>Quốc</a:t>
            </a:r>
            <a:endParaRPr lang="vi-VN" dirty="0">
              <a:solidFill>
                <a:srgbClr val="FFFF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EFD5C1-5B52-3DFF-334F-E6B8E9B7EC13}"/>
              </a:ext>
            </a:extLst>
          </p:cNvPr>
          <p:cNvSpPr txBox="1"/>
          <p:nvPr/>
        </p:nvSpPr>
        <p:spPr>
          <a:xfrm>
            <a:off x="4900928" y="5379528"/>
            <a:ext cx="66509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Dashboard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tổng</a:t>
            </a:r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quan</a:t>
            </a:r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khách</a:t>
            </a:r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hàng</a:t>
            </a:r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và</a:t>
            </a:r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hành</a:t>
            </a:r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 vi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mua</a:t>
            </a:r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sắm</a:t>
            </a:r>
            <a:endParaRPr lang="vi-VN" sz="12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2A9FE5-D9CD-6AE9-40C8-AF7457EDF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927" y="1641987"/>
            <a:ext cx="6645553" cy="373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752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76972-E1B6-410A-8C99-6CB887E03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D00E5-C4C2-CA81-1AB8-B963F9636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/>
          <a:p>
            <a:r>
              <a:rPr lang="en-US" dirty="0"/>
              <a:t>1.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vi </a:t>
            </a:r>
            <a:r>
              <a:rPr lang="en-US" dirty="0" err="1"/>
              <a:t>mua</a:t>
            </a:r>
            <a:r>
              <a:rPr lang="en-US" dirty="0"/>
              <a:t> </a:t>
            </a:r>
            <a:r>
              <a:rPr lang="en-US" dirty="0" err="1"/>
              <a:t>sắm</a:t>
            </a:r>
            <a:endParaRPr lang="vi-VN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A6E6ED5-B4D9-B5BB-0534-BB5F973A58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/>
          <a:lstStyle/>
          <a:p>
            <a:r>
              <a:rPr lang="en-US" dirty="0"/>
              <a:t>-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quốc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chi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,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mua</a:t>
            </a:r>
            <a:r>
              <a:rPr lang="en-US" dirty="0"/>
              <a:t> </a:t>
            </a:r>
            <a:r>
              <a:rPr lang="en-US" dirty="0" err="1"/>
              <a:t>sắm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nước</a:t>
            </a:r>
            <a:r>
              <a:rPr lang="en-US" dirty="0"/>
              <a:t> </a:t>
            </a:r>
            <a:r>
              <a:rPr lang="en-US" dirty="0" err="1"/>
              <a:t>Tây</a:t>
            </a:r>
            <a:r>
              <a:rPr lang="en-US" dirty="0"/>
              <a:t> </a:t>
            </a:r>
            <a:r>
              <a:rPr lang="en-US" dirty="0" err="1"/>
              <a:t>Âu</a:t>
            </a:r>
            <a:r>
              <a:rPr lang="en-US" dirty="0"/>
              <a:t>: </a:t>
            </a:r>
            <a:r>
              <a:rPr lang="en-US" dirty="0">
                <a:solidFill>
                  <a:srgbClr val="FFFF00"/>
                </a:solidFill>
              </a:rPr>
              <a:t>Anh </a:t>
            </a:r>
            <a:r>
              <a:rPr lang="en-US" dirty="0" err="1">
                <a:solidFill>
                  <a:srgbClr val="FFFF00"/>
                </a:solidFill>
              </a:rPr>
              <a:t>Quốc</a:t>
            </a:r>
            <a:r>
              <a:rPr lang="en-US" dirty="0">
                <a:solidFill>
                  <a:srgbClr val="FFFF00"/>
                </a:solidFill>
              </a:rPr>
              <a:t>, Ireland, </a:t>
            </a:r>
            <a:r>
              <a:rPr lang="en-US" dirty="0" err="1">
                <a:solidFill>
                  <a:srgbClr val="FFFF00"/>
                </a:solidFill>
              </a:rPr>
              <a:t>Pháp</a:t>
            </a:r>
            <a:r>
              <a:rPr lang="en-US" dirty="0">
                <a:solidFill>
                  <a:srgbClr val="FFFF00"/>
                </a:solidFill>
              </a:rPr>
              <a:t>, </a:t>
            </a:r>
            <a:r>
              <a:rPr lang="en-US" dirty="0" err="1">
                <a:solidFill>
                  <a:srgbClr val="FFFF00"/>
                </a:solidFill>
              </a:rPr>
              <a:t>Đức</a:t>
            </a:r>
            <a:r>
              <a:rPr lang="en-US" dirty="0">
                <a:solidFill>
                  <a:srgbClr val="FFFF00"/>
                </a:solidFill>
              </a:rPr>
              <a:t>, </a:t>
            </a:r>
            <a:r>
              <a:rPr lang="en-US" dirty="0" err="1">
                <a:solidFill>
                  <a:srgbClr val="FFFF00"/>
                </a:solidFill>
              </a:rPr>
              <a:t>Tây</a:t>
            </a:r>
            <a:r>
              <a:rPr lang="en-US" dirty="0">
                <a:solidFill>
                  <a:srgbClr val="FFFF00"/>
                </a:solidFill>
              </a:rPr>
              <a:t> Ban Nha, Hà Lan, </a:t>
            </a:r>
            <a:r>
              <a:rPr lang="en-US" dirty="0" err="1">
                <a:solidFill>
                  <a:srgbClr val="FFFF00"/>
                </a:solidFill>
              </a:rPr>
              <a:t>Thụy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Sĩ</a:t>
            </a:r>
            <a:endParaRPr lang="en-US" dirty="0">
              <a:solidFill>
                <a:srgbClr val="FFFF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Các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nước</a:t>
            </a:r>
            <a:r>
              <a:rPr lang="en-US" dirty="0">
                <a:solidFill>
                  <a:schemeClr val="bg1"/>
                </a:solidFill>
              </a:rPr>
              <a:t> Châu Á, Châu </a:t>
            </a:r>
            <a:r>
              <a:rPr lang="en-US" dirty="0" err="1">
                <a:solidFill>
                  <a:schemeClr val="bg1"/>
                </a:solidFill>
              </a:rPr>
              <a:t>Úc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en-US" dirty="0">
                <a:solidFill>
                  <a:srgbClr val="FFFF00"/>
                </a:solidFill>
              </a:rPr>
              <a:t>Singapore, </a:t>
            </a:r>
            <a:r>
              <a:rPr lang="en-US" dirty="0" err="1">
                <a:solidFill>
                  <a:srgbClr val="FFFF00"/>
                </a:solidFill>
              </a:rPr>
              <a:t>Nhật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Bản</a:t>
            </a:r>
            <a:r>
              <a:rPr lang="en-US" dirty="0">
                <a:solidFill>
                  <a:srgbClr val="FFFF00"/>
                </a:solidFill>
              </a:rPr>
              <a:t>, </a:t>
            </a:r>
            <a:r>
              <a:rPr lang="en-US" dirty="0" err="1">
                <a:solidFill>
                  <a:srgbClr val="FFFF00"/>
                </a:solidFill>
              </a:rPr>
              <a:t>Úc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69DD3C-7A0A-64EE-3254-6160EF49C344}"/>
              </a:ext>
            </a:extLst>
          </p:cNvPr>
          <p:cNvSpPr txBox="1"/>
          <p:nvPr/>
        </p:nvSpPr>
        <p:spPr>
          <a:xfrm>
            <a:off x="4401574" y="748784"/>
            <a:ext cx="31197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Phân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bổ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khách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hàng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chi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tiêu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cao</a:t>
            </a:r>
            <a:endParaRPr lang="vi-VN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E00A42-FA38-EF4D-472E-5914816C2F31}"/>
              </a:ext>
            </a:extLst>
          </p:cNvPr>
          <p:cNvSpPr txBox="1"/>
          <p:nvPr/>
        </p:nvSpPr>
        <p:spPr>
          <a:xfrm>
            <a:off x="8211575" y="748784"/>
            <a:ext cx="34660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Phân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bổ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khách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hàng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mua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sắm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nhiều</a:t>
            </a:r>
            <a:endParaRPr lang="vi-VN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4867E57-695B-73FC-5641-12160BCF0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8700" y="1177472"/>
            <a:ext cx="3388851" cy="46605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AC0FC87-B8E3-1455-6288-5E785E09C5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1574" y="1177472"/>
            <a:ext cx="3401483" cy="466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641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7793A-555A-C7A1-6D45-E32DFEF0F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vi </a:t>
            </a:r>
            <a:r>
              <a:rPr lang="en-US" dirty="0" err="1"/>
              <a:t>mua</a:t>
            </a:r>
            <a:r>
              <a:rPr lang="en-US" dirty="0"/>
              <a:t> </a:t>
            </a:r>
            <a:r>
              <a:rPr lang="en-US" dirty="0" err="1"/>
              <a:t>sắm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B29FA-5111-9D30-C59A-F7B37A444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khẩu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hưởng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thói</a:t>
            </a:r>
            <a:r>
              <a:rPr lang="en-US" dirty="0"/>
              <a:t> </a:t>
            </a:r>
            <a:r>
              <a:rPr lang="en-US" dirty="0" err="1"/>
              <a:t>quen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:</a:t>
            </a:r>
          </a:p>
          <a:p>
            <a:pPr lvl="2"/>
            <a:r>
              <a:rPr lang="en-US" dirty="0" err="1"/>
              <a:t>Kinh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: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nước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thu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bình</a:t>
            </a:r>
            <a:r>
              <a:rPr lang="en-US" dirty="0"/>
              <a:t> </a:t>
            </a:r>
            <a:r>
              <a:rPr lang="en-US" dirty="0" err="1"/>
              <a:t>quân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,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tuyến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, an </a:t>
            </a:r>
            <a:r>
              <a:rPr lang="en-US" dirty="0" err="1"/>
              <a:t>toàn</a:t>
            </a:r>
            <a:endParaRPr lang="en-US" dirty="0"/>
          </a:p>
          <a:p>
            <a:pPr lvl="2"/>
            <a:r>
              <a:rPr lang="en-US" dirty="0" err="1"/>
              <a:t>Hạ</a:t>
            </a:r>
            <a:r>
              <a:rPr lang="en-US" dirty="0"/>
              <a:t> </a:t>
            </a:r>
            <a:r>
              <a:rPr lang="en-US" dirty="0" err="1"/>
              <a:t>tầng</a:t>
            </a:r>
            <a:r>
              <a:rPr lang="en-US" dirty="0"/>
              <a:t> TMĐT: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nước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logistics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,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nhanh</a:t>
            </a:r>
            <a:r>
              <a:rPr lang="en-US" dirty="0"/>
              <a:t> </a:t>
            </a:r>
            <a:r>
              <a:rPr lang="en-US" dirty="0" err="1"/>
              <a:t>chóng</a:t>
            </a:r>
            <a:r>
              <a:rPr lang="en-US" dirty="0"/>
              <a:t>,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hữu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sàn</a:t>
            </a:r>
            <a:r>
              <a:rPr lang="en-US" dirty="0"/>
              <a:t> TMĐT </a:t>
            </a:r>
            <a:r>
              <a:rPr lang="en-US" dirty="0" err="1"/>
              <a:t>lâu</a:t>
            </a:r>
            <a:r>
              <a:rPr lang="en-US" dirty="0"/>
              <a:t> </a:t>
            </a:r>
            <a:r>
              <a:rPr lang="en-US" dirty="0" err="1"/>
              <a:t>đời</a:t>
            </a:r>
            <a:r>
              <a:rPr lang="en-US" dirty="0"/>
              <a:t>, </a:t>
            </a:r>
            <a:r>
              <a:rPr lang="en-US" dirty="0" err="1"/>
              <a:t>uy</a:t>
            </a:r>
            <a:r>
              <a:rPr lang="en-US" dirty="0"/>
              <a:t> </a:t>
            </a:r>
            <a:r>
              <a:rPr lang="en-US" dirty="0" err="1"/>
              <a:t>tín</a:t>
            </a:r>
            <a:endParaRPr lang="en-US" dirty="0"/>
          </a:p>
          <a:p>
            <a:pPr lvl="2"/>
            <a:r>
              <a:rPr lang="en-US" dirty="0" err="1"/>
              <a:t>Thói</a:t>
            </a:r>
            <a:r>
              <a:rPr lang="en-US" dirty="0"/>
              <a:t> </a:t>
            </a:r>
            <a:r>
              <a:rPr lang="en-US" dirty="0" err="1"/>
              <a:t>quen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: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dân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khu</a:t>
            </a:r>
            <a:r>
              <a:rPr lang="en-US" dirty="0"/>
              <a:t> </a:t>
            </a:r>
            <a:r>
              <a:rPr lang="en-US" dirty="0" err="1"/>
              <a:t>vực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bận</a:t>
            </a:r>
            <a:r>
              <a:rPr lang="en-US" dirty="0"/>
              <a:t> </a:t>
            </a:r>
            <a:r>
              <a:rPr lang="en-US" dirty="0" err="1"/>
              <a:t>rộn</a:t>
            </a:r>
            <a:r>
              <a:rPr lang="en-US" dirty="0"/>
              <a:t>,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tiên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tiện</a:t>
            </a:r>
            <a:r>
              <a:rPr lang="en-US" dirty="0"/>
              <a:t> </a:t>
            </a:r>
            <a:r>
              <a:rPr lang="en-US" dirty="0" err="1"/>
              <a:t>lợi</a:t>
            </a:r>
            <a:r>
              <a:rPr lang="en-US" dirty="0"/>
              <a:t>,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quen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mua</a:t>
            </a:r>
            <a:r>
              <a:rPr lang="en-US" dirty="0"/>
              <a:t> </a:t>
            </a:r>
            <a:r>
              <a:rPr lang="en-US" dirty="0" err="1"/>
              <a:t>sắm</a:t>
            </a:r>
            <a:r>
              <a:rPr lang="en-US" dirty="0"/>
              <a:t> online</a:t>
            </a:r>
          </a:p>
          <a:p>
            <a:pPr lvl="2"/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: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nước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nhắm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nhà</a:t>
            </a:r>
            <a:r>
              <a:rPr lang="en-US" dirty="0"/>
              <a:t>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/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phối</a:t>
            </a:r>
            <a:r>
              <a:rPr lang="en-US" dirty="0"/>
              <a:t> do </a:t>
            </a:r>
            <a:r>
              <a:rPr lang="en-US" dirty="0" err="1"/>
              <a:t>lợi</a:t>
            </a:r>
            <a:r>
              <a:rPr lang="en-US" dirty="0"/>
              <a:t> </a:t>
            </a:r>
            <a:r>
              <a:rPr lang="en-US" dirty="0" err="1"/>
              <a:t>nhuận</a:t>
            </a:r>
            <a:r>
              <a:rPr lang="en-US" dirty="0"/>
              <a:t> </a:t>
            </a:r>
            <a:r>
              <a:rPr lang="en-US" dirty="0" err="1"/>
              <a:t>thu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khác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E8DE13-5546-5151-4198-FA64FE42706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khúc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:</a:t>
            </a:r>
          </a:p>
          <a:p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chia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chí</a:t>
            </a:r>
            <a:r>
              <a:rPr lang="en-US" dirty="0"/>
              <a:t>: </a:t>
            </a:r>
          </a:p>
          <a:p>
            <a:r>
              <a:rPr lang="en-US" dirty="0"/>
              <a:t>- </a:t>
            </a:r>
            <a:r>
              <a:rPr lang="en-US" dirty="0" err="1">
                <a:solidFill>
                  <a:srgbClr val="FFFF00"/>
                </a:solidFill>
              </a:rPr>
              <a:t>Tổng</a:t>
            </a:r>
            <a:r>
              <a:rPr lang="en-US" dirty="0">
                <a:solidFill>
                  <a:srgbClr val="FFFF00"/>
                </a:solidFill>
              </a:rPr>
              <a:t> chi </a:t>
            </a:r>
            <a:r>
              <a:rPr lang="en-US" dirty="0" err="1">
                <a:solidFill>
                  <a:srgbClr val="FFFF00"/>
                </a:solidFill>
              </a:rPr>
              <a:t>tiêu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/>
              <a:t>(chi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,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bình</a:t>
            </a:r>
            <a:r>
              <a:rPr lang="en-US" dirty="0"/>
              <a:t>, </a:t>
            </a:r>
            <a:r>
              <a:rPr lang="en-US" dirty="0" err="1"/>
              <a:t>ít</a:t>
            </a:r>
            <a:r>
              <a:rPr lang="en-US" dirty="0"/>
              <a:t>)</a:t>
            </a:r>
          </a:p>
          <a:p>
            <a:r>
              <a:rPr lang="en-US" dirty="0"/>
              <a:t>- </a:t>
            </a:r>
            <a:r>
              <a:rPr lang="en-US" dirty="0" err="1">
                <a:solidFill>
                  <a:srgbClr val="FFFF00"/>
                </a:solidFill>
              </a:rPr>
              <a:t>Số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lần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mua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hàng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/>
              <a:t>(</a:t>
            </a:r>
            <a:r>
              <a:rPr lang="en-US" dirty="0" err="1"/>
              <a:t>mua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,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bình</a:t>
            </a:r>
            <a:r>
              <a:rPr lang="en-US" dirty="0"/>
              <a:t>, </a:t>
            </a:r>
            <a:r>
              <a:rPr lang="en-US" dirty="0" err="1"/>
              <a:t>ít</a:t>
            </a:r>
            <a:r>
              <a:rPr lang="en-US" dirty="0"/>
              <a:t>)</a:t>
            </a:r>
          </a:p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604748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E09B4-764F-3B51-2CE2-6C9401128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561B4-0433-278F-E514-BF00BEC11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vi </a:t>
            </a:r>
            <a:r>
              <a:rPr lang="en-US" dirty="0" err="1"/>
              <a:t>mua</a:t>
            </a:r>
            <a:r>
              <a:rPr lang="en-US" dirty="0"/>
              <a:t> </a:t>
            </a:r>
            <a:r>
              <a:rPr lang="en-US" dirty="0" err="1"/>
              <a:t>sắm</a:t>
            </a:r>
            <a:endParaRPr lang="vi-V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D09C45-A338-CF34-C1CF-402223AF9BA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tiềm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:</a:t>
            </a:r>
          </a:p>
          <a:p>
            <a:r>
              <a:rPr lang="en-US" dirty="0"/>
              <a:t>-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xuyên</a:t>
            </a:r>
            <a:r>
              <a:rPr lang="en-US" dirty="0"/>
              <a:t> </a:t>
            </a:r>
            <a:r>
              <a:rPr lang="en-US" dirty="0" err="1"/>
              <a:t>mua</a:t>
            </a:r>
            <a:r>
              <a:rPr lang="en-US" dirty="0"/>
              <a:t> </a:t>
            </a:r>
            <a:r>
              <a:rPr lang="en-US" dirty="0" err="1"/>
              <a:t>sắm</a:t>
            </a:r>
            <a:r>
              <a:rPr lang="en-US" dirty="0"/>
              <a:t>, </a:t>
            </a:r>
            <a:r>
              <a:rPr lang="en-US" dirty="0" err="1"/>
              <a:t>có</a:t>
            </a:r>
            <a:r>
              <a:rPr lang="en-US" dirty="0"/>
              <a:t> xu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thành</a:t>
            </a:r>
            <a:endParaRPr lang="en-US" dirty="0"/>
          </a:p>
          <a:p>
            <a:r>
              <a:rPr lang="en-US" dirty="0"/>
              <a:t>-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chi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cao</a:t>
            </a:r>
            <a:endParaRPr lang="en-US" dirty="0"/>
          </a:p>
          <a:p>
            <a:r>
              <a:rPr lang="en-US" dirty="0"/>
              <a:t>-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quốc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, </a:t>
            </a:r>
            <a:r>
              <a:rPr lang="en-US" dirty="0" err="1"/>
              <a:t>đem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thu</a:t>
            </a:r>
            <a:r>
              <a:rPr lang="en-US" dirty="0"/>
              <a:t> </a:t>
            </a:r>
            <a:r>
              <a:rPr lang="en-US" dirty="0" err="1"/>
              <a:t>cao</a:t>
            </a:r>
            <a:endParaRPr lang="vi-V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61CF01-8CCD-BB97-59B1-74EA6FBA8437}"/>
              </a:ext>
            </a:extLst>
          </p:cNvPr>
          <p:cNvSpPr txBox="1"/>
          <p:nvPr/>
        </p:nvSpPr>
        <p:spPr>
          <a:xfrm>
            <a:off x="4900928" y="5379528"/>
            <a:ext cx="66509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Dashboard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đã</a:t>
            </a:r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 filter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nhóm</a:t>
            </a:r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khách</a:t>
            </a:r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hàng</a:t>
            </a:r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 chi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tiêu</a:t>
            </a:r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cao</a:t>
            </a:r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mua</a:t>
            </a:r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sắm</a:t>
            </a:r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nhiều</a:t>
            </a:r>
            <a:endParaRPr lang="vi-VN" sz="12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85AE26F-5FFA-8B6D-AB61-A654C17AB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A38F0A1-3EE8-B0DD-251A-505E328F1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9579" y="1638989"/>
            <a:ext cx="6652340" cy="3739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132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C6587-0B18-4793-DFF2-1F49226C4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FF93369-C54D-0852-D027-373B0478CD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48743" y="666643"/>
            <a:ext cx="5970496" cy="27432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61B379-F808-0AC7-A19E-ABD287C5524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vi-VN" dirty="0"/>
              <a:t>Trong ngày:</a:t>
            </a:r>
          </a:p>
          <a:p>
            <a:r>
              <a:rPr lang="vi-VN" dirty="0"/>
              <a:t>- Lượt mua sắm trong ngày diễn ra nhiều nhất vào </a:t>
            </a:r>
            <a:r>
              <a:rPr lang="en-US" dirty="0" err="1"/>
              <a:t>khung</a:t>
            </a:r>
            <a:r>
              <a:rPr lang="en-US" dirty="0"/>
              <a:t> </a:t>
            </a:r>
            <a:r>
              <a:rPr lang="en-US" dirty="0" err="1"/>
              <a:t>giờ</a:t>
            </a:r>
            <a:r>
              <a:rPr lang="en-US" dirty="0"/>
              <a:t> </a:t>
            </a:r>
            <a:r>
              <a:rPr lang="en-US" dirty="0">
                <a:solidFill>
                  <a:srgbClr val="FFFF00"/>
                </a:solidFill>
              </a:rPr>
              <a:t>10am – 4pm</a:t>
            </a:r>
          </a:p>
          <a:p>
            <a:r>
              <a:rPr lang="en-US" dirty="0">
                <a:solidFill>
                  <a:schemeClr val="bg1"/>
                </a:solidFill>
              </a:rPr>
              <a:t>- </a:t>
            </a:r>
            <a:r>
              <a:rPr lang="en-US" dirty="0" err="1">
                <a:solidFill>
                  <a:schemeClr val="bg1"/>
                </a:solidFill>
              </a:rPr>
              <a:t>Doanh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cao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hơn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trong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khung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giờ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rgbClr val="FFFF00"/>
                </a:solidFill>
              </a:rPr>
              <a:t>10am – 4pm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ngoài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ra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các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thời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điểm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en-US" dirty="0">
                <a:solidFill>
                  <a:srgbClr val="FFFF00"/>
                </a:solidFill>
              </a:rPr>
              <a:t>9:15am</a:t>
            </a:r>
            <a:r>
              <a:rPr lang="en-US" dirty="0">
                <a:solidFill>
                  <a:schemeClr val="bg1"/>
                </a:solidFill>
              </a:rPr>
              <a:t>,</a:t>
            </a:r>
            <a:r>
              <a:rPr lang="en-US" dirty="0">
                <a:solidFill>
                  <a:srgbClr val="FFFF00"/>
                </a:solidFill>
              </a:rPr>
              <a:t> 10:01am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có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doanh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cao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bất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thường</a:t>
            </a:r>
            <a:endParaRPr lang="en-US" dirty="0">
              <a:solidFill>
                <a:schemeClr val="bg1"/>
              </a:solidFill>
            </a:endParaRPr>
          </a:p>
          <a:p>
            <a:endParaRPr lang="vi-V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D067FF-4C8F-3468-F5F7-F9CC4C1F4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743" y="3585592"/>
            <a:ext cx="5989037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209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BE376-6832-F144-EEB9-3B4B9D170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B42A5-0682-DA56-EB2A-430774FEF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/>
          <a:p>
            <a:r>
              <a:rPr lang="en-US" dirty="0"/>
              <a:t>2.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8955DC1-4A0A-8FE2-458E-2725C7ACD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/>
          <a:lstStyle/>
          <a:p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xu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mua</a:t>
            </a:r>
            <a:r>
              <a:rPr lang="en-US" dirty="0"/>
              <a:t> </a:t>
            </a:r>
            <a:r>
              <a:rPr lang="en-US" dirty="0" err="1"/>
              <a:t>sắm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, </a:t>
            </a:r>
            <a:r>
              <a:rPr lang="en-US" dirty="0" err="1"/>
              <a:t>đem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thu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cuối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,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>
                <a:solidFill>
                  <a:srgbClr val="FFFF00"/>
                </a:solidFill>
              </a:rPr>
              <a:t>tháng</a:t>
            </a:r>
            <a:r>
              <a:rPr lang="en-US" dirty="0">
                <a:solidFill>
                  <a:srgbClr val="FFFF00"/>
                </a:solidFill>
              </a:rPr>
              <a:t> 9 </a:t>
            </a:r>
            <a:r>
              <a:rPr lang="en-US" dirty="0" err="1">
                <a:solidFill>
                  <a:srgbClr val="FFFF00"/>
                </a:solidFill>
              </a:rPr>
              <a:t>đến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tháng</a:t>
            </a:r>
            <a:r>
              <a:rPr lang="en-US" dirty="0">
                <a:solidFill>
                  <a:srgbClr val="FFFF00"/>
                </a:solidFill>
              </a:rPr>
              <a:t> 12</a:t>
            </a:r>
            <a:r>
              <a:rPr lang="en-US" dirty="0"/>
              <a:t>.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do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dịp</a:t>
            </a:r>
            <a:r>
              <a:rPr lang="en-US" dirty="0"/>
              <a:t> </a:t>
            </a:r>
            <a:r>
              <a:rPr lang="en-US" dirty="0" err="1"/>
              <a:t>lễ</a:t>
            </a:r>
            <a:r>
              <a:rPr lang="en-US" dirty="0"/>
              <a:t>, </a:t>
            </a:r>
            <a:r>
              <a:rPr lang="en-US" dirty="0" err="1"/>
              <a:t>mùa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 (Halloween, Black Friday, Cyber Monday, </a:t>
            </a:r>
            <a:r>
              <a:rPr lang="en-US" dirty="0" err="1"/>
              <a:t>Giáng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, Boxing day, </a:t>
            </a:r>
            <a:r>
              <a:rPr lang="en-US" dirty="0" err="1"/>
              <a:t>Năm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056854-EBBA-3198-C23C-C301727AC6EE}"/>
              </a:ext>
            </a:extLst>
          </p:cNvPr>
          <p:cNvSpPr txBox="1"/>
          <p:nvPr/>
        </p:nvSpPr>
        <p:spPr>
          <a:xfrm>
            <a:off x="4900928" y="5379528"/>
            <a:ext cx="66509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Dashboard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đã</a:t>
            </a:r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 filter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nhóm</a:t>
            </a:r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khách</a:t>
            </a:r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hàng</a:t>
            </a:r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 chi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tiêu</a:t>
            </a:r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cao</a:t>
            </a:r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mua</a:t>
            </a:r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sắm</a:t>
            </a:r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nhiều</a:t>
            </a:r>
            <a:endParaRPr lang="vi-VN" sz="12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5213C8-6CF6-E398-A60A-0BC7152EF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9579" y="1639632"/>
            <a:ext cx="6652340" cy="3739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072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E5074-1075-3406-B41B-AC6ED3603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/>
          <a:p>
            <a:r>
              <a:rPr lang="en-US" dirty="0"/>
              <a:t>3.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khúc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endParaRPr lang="vi-VN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C856A61A-95B6-C41A-8E82-E4B5A97941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335546"/>
          </a:xfrm>
        </p:spPr>
        <p:txBody>
          <a:bodyPr>
            <a:normAutofit/>
          </a:bodyPr>
          <a:lstStyle/>
          <a:p>
            <a:r>
              <a:rPr lang="en-US" dirty="0" err="1"/>
              <a:t>Tại</a:t>
            </a:r>
            <a:r>
              <a:rPr lang="en-US" dirty="0"/>
              <a:t> Anh </a:t>
            </a:r>
            <a:r>
              <a:rPr lang="en-US" dirty="0" err="1"/>
              <a:t>Quốc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>
                <a:solidFill>
                  <a:srgbClr val="FFFF00"/>
                </a:solidFill>
              </a:rPr>
              <a:t>23843</a:t>
            </a:r>
            <a:r>
              <a:rPr lang="en-US" dirty="0"/>
              <a:t> (Paper craft, little birdie)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lượt</a:t>
            </a:r>
            <a:r>
              <a:rPr lang="en-US" dirty="0"/>
              <a:t> </a:t>
            </a:r>
            <a:r>
              <a:rPr lang="en-US" dirty="0" err="1"/>
              <a:t>mua</a:t>
            </a:r>
            <a:r>
              <a:rPr lang="en-US" dirty="0"/>
              <a:t>,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thu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nhất</a:t>
            </a:r>
            <a:endParaRPr lang="en-US" dirty="0"/>
          </a:p>
          <a:p>
            <a:r>
              <a:rPr lang="en-US" dirty="0"/>
              <a:t>- Top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thu</a:t>
            </a:r>
            <a:r>
              <a:rPr lang="en-US" dirty="0"/>
              <a:t>,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: </a:t>
            </a:r>
            <a:r>
              <a:rPr lang="en-US" dirty="0">
                <a:solidFill>
                  <a:srgbClr val="FFFF00"/>
                </a:solidFill>
              </a:rPr>
              <a:t>85123A, 23166, 85099B, 47566, 84879</a:t>
            </a:r>
          </a:p>
          <a:p>
            <a:r>
              <a:rPr lang="en-US" dirty="0">
                <a:solidFill>
                  <a:schemeClr val="bg1"/>
                </a:solidFill>
              </a:rPr>
              <a:t>- </a:t>
            </a:r>
            <a:r>
              <a:rPr lang="en-US" dirty="0" err="1">
                <a:solidFill>
                  <a:schemeClr val="bg1"/>
                </a:solidFill>
              </a:rPr>
              <a:t>Sản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phẩm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rgbClr val="FFFF00"/>
                </a:solidFill>
              </a:rPr>
              <a:t>22423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tuy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không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đạt</a:t>
            </a:r>
            <a:r>
              <a:rPr lang="en-US" dirty="0">
                <a:solidFill>
                  <a:schemeClr val="bg1"/>
                </a:solidFill>
              </a:rPr>
              <a:t> top </a:t>
            </a:r>
            <a:r>
              <a:rPr lang="en-US" dirty="0" err="1">
                <a:solidFill>
                  <a:schemeClr val="bg1"/>
                </a:solidFill>
              </a:rPr>
              <a:t>doanh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số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nhưng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doanh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đem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lại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rất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cao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đừng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thứ</a:t>
            </a:r>
            <a:r>
              <a:rPr lang="en-US" dirty="0">
                <a:solidFill>
                  <a:schemeClr val="bg1"/>
                </a:solidFill>
              </a:rPr>
              <a:t> 2 </a:t>
            </a:r>
            <a:r>
              <a:rPr lang="en-US" dirty="0" err="1">
                <a:solidFill>
                  <a:schemeClr val="bg1"/>
                </a:solidFill>
              </a:rPr>
              <a:t>trên</a:t>
            </a:r>
            <a:r>
              <a:rPr lang="en-US" dirty="0">
                <a:solidFill>
                  <a:schemeClr val="bg1"/>
                </a:solidFill>
              </a:rPr>
              <a:t> BXH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C44852-E771-F443-64F6-2469100FEC14}"/>
              </a:ext>
            </a:extLst>
          </p:cNvPr>
          <p:cNvSpPr txBox="1"/>
          <p:nvPr/>
        </p:nvSpPr>
        <p:spPr>
          <a:xfrm>
            <a:off x="4900928" y="5379528"/>
            <a:ext cx="66509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Dashboard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phân</a:t>
            </a:r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khúc</a:t>
            </a:r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sản</a:t>
            </a:r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phẩm</a:t>
            </a:r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tại</a:t>
            </a:r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 Anh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Quốc</a:t>
            </a:r>
            <a:endParaRPr lang="vi-VN" sz="12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36B5D9-E62F-BE69-5611-24E2485CA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928" y="1639632"/>
            <a:ext cx="6644035" cy="3739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472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B50B9-C434-7558-B762-F81EC4519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A66D8-9D8A-C2A1-3D25-B89C67AEE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/>
          <a:p>
            <a:r>
              <a:rPr lang="en-US" dirty="0"/>
              <a:t>3.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khúc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endParaRPr lang="vi-VN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43EE71A-B456-6D02-09F4-3025C89D6E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335546"/>
          </a:xfrm>
        </p:spPr>
        <p:txBody>
          <a:bodyPr>
            <a:normAutofit/>
          </a:bodyPr>
          <a:lstStyle/>
          <a:p>
            <a:r>
              <a:rPr lang="en-US" dirty="0" err="1"/>
              <a:t>Tại</a:t>
            </a:r>
            <a:r>
              <a:rPr lang="en-US" dirty="0"/>
              <a:t> Anh </a:t>
            </a:r>
            <a:r>
              <a:rPr lang="en-US" dirty="0" err="1"/>
              <a:t>Quốc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,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thu</a:t>
            </a:r>
            <a:r>
              <a:rPr lang="en-US" dirty="0"/>
              <a:t> </a:t>
            </a:r>
            <a:r>
              <a:rPr lang="en-US" dirty="0" err="1"/>
              <a:t>thấp</a:t>
            </a:r>
            <a:r>
              <a:rPr lang="en-US" dirty="0"/>
              <a:t>. VD: </a:t>
            </a:r>
            <a:r>
              <a:rPr lang="en-US" dirty="0">
                <a:solidFill>
                  <a:srgbClr val="FFFF00"/>
                </a:solidFill>
              </a:rPr>
              <a:t>20667, 20703, 20892, PADS, 84227, …</a:t>
            </a:r>
          </a:p>
          <a:p>
            <a:r>
              <a:rPr lang="en-US" dirty="0">
                <a:solidFill>
                  <a:schemeClr val="bg1"/>
                </a:solidFill>
              </a:rPr>
              <a:t>- </a:t>
            </a:r>
            <a:r>
              <a:rPr lang="en-US" dirty="0" err="1">
                <a:solidFill>
                  <a:schemeClr val="bg1"/>
                </a:solidFill>
              </a:rPr>
              <a:t>Nguyên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nhân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có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thể</a:t>
            </a:r>
            <a:r>
              <a:rPr lang="en-US" dirty="0">
                <a:solidFill>
                  <a:schemeClr val="bg1"/>
                </a:solidFill>
              </a:rPr>
              <a:t> do </a:t>
            </a:r>
            <a:r>
              <a:rPr lang="en-US" dirty="0" err="1">
                <a:solidFill>
                  <a:schemeClr val="bg1"/>
                </a:solidFill>
              </a:rPr>
              <a:t>không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phù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hợp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với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nhu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cầu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khách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hàng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hoặc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mặt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hàng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khó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tiếp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cận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BC8BE1-86B7-FF44-5290-79AE8CC7AAF1}"/>
              </a:ext>
            </a:extLst>
          </p:cNvPr>
          <p:cNvSpPr txBox="1"/>
          <p:nvPr/>
        </p:nvSpPr>
        <p:spPr>
          <a:xfrm>
            <a:off x="4900928" y="5379528"/>
            <a:ext cx="66509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Dashboard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phân</a:t>
            </a:r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khúc</a:t>
            </a:r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sản</a:t>
            </a:r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phẩm</a:t>
            </a:r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tại</a:t>
            </a:r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 Anh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Quốc</a:t>
            </a:r>
            <a:endParaRPr lang="vi-VN" sz="12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0C64E2-CA86-AC60-676E-EE6600EFC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8547" y="1639632"/>
            <a:ext cx="6653372" cy="3739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184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77160-C4E8-7E52-946F-292E88875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EAE86-51F3-E635-6767-871C346EC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/>
          <a:p>
            <a:r>
              <a:rPr lang="en-US" dirty="0"/>
              <a:t>3.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khúc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endParaRPr lang="vi-VN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A01E1DA-7DE3-581C-BA92-DC07E63F98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7857" y="2836653"/>
            <a:ext cx="3031852" cy="3326021"/>
          </a:xfrm>
        </p:spPr>
        <p:txBody>
          <a:bodyPr>
            <a:normAutofit/>
          </a:bodyPr>
          <a:lstStyle/>
          <a:p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nước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>
                <a:solidFill>
                  <a:srgbClr val="FFFF00"/>
                </a:solidFill>
              </a:rPr>
              <a:t>POST</a:t>
            </a:r>
            <a:r>
              <a:rPr lang="en-US" dirty="0">
                <a:solidFill>
                  <a:schemeClr val="bg1"/>
                </a:solidFill>
              </a:rPr>
              <a:t>,</a:t>
            </a:r>
            <a:r>
              <a:rPr lang="en-US" dirty="0"/>
              <a:t> </a:t>
            </a:r>
            <a:r>
              <a:rPr lang="en-US" dirty="0">
                <a:solidFill>
                  <a:srgbClr val="FFFF00"/>
                </a:solidFill>
              </a:rPr>
              <a:t>M </a:t>
            </a:r>
            <a:r>
              <a:rPr lang="en-US" dirty="0" err="1">
                <a:solidFill>
                  <a:schemeClr val="bg1"/>
                </a:solidFill>
              </a:rPr>
              <a:t>và</a:t>
            </a:r>
            <a:r>
              <a:rPr lang="en-US" dirty="0">
                <a:solidFill>
                  <a:srgbClr val="FFFF00"/>
                </a:solidFill>
              </a:rPr>
              <a:t> 22423</a:t>
            </a:r>
            <a:r>
              <a:rPr lang="en-US" dirty="0"/>
              <a:t> </a:t>
            </a:r>
            <a:r>
              <a:rPr lang="en-US" dirty="0" err="1"/>
              <a:t>đạt</a:t>
            </a:r>
            <a:r>
              <a:rPr lang="en-US" dirty="0"/>
              <a:t>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thu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, </a:t>
            </a:r>
            <a:r>
              <a:rPr lang="en-US" dirty="0" err="1"/>
              <a:t>tuy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top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số</a:t>
            </a:r>
            <a:endParaRPr lang="en-US" dirty="0"/>
          </a:p>
          <a:p>
            <a:r>
              <a:rPr lang="en-US" dirty="0"/>
              <a:t>- Top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thu</a:t>
            </a:r>
            <a:r>
              <a:rPr lang="en-US" dirty="0"/>
              <a:t>,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: </a:t>
            </a:r>
            <a:r>
              <a:rPr lang="en-US" dirty="0">
                <a:solidFill>
                  <a:srgbClr val="FFFF00"/>
                </a:solidFill>
              </a:rPr>
              <a:t>23084, 22326, 22629, 22630, 22328, 21732</a:t>
            </a:r>
          </a:p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4C9535-8026-1BD1-BE96-687967BFEEF9}"/>
              </a:ext>
            </a:extLst>
          </p:cNvPr>
          <p:cNvSpPr txBox="1"/>
          <p:nvPr/>
        </p:nvSpPr>
        <p:spPr>
          <a:xfrm>
            <a:off x="4900928" y="5379528"/>
            <a:ext cx="66509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Dashboard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phân</a:t>
            </a:r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khúc</a:t>
            </a:r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sản</a:t>
            </a:r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phẩm</a:t>
            </a:r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tại</a:t>
            </a:r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các</a:t>
            </a:r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nước</a:t>
            </a:r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còn</a:t>
            </a:r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lại</a:t>
            </a:r>
            <a:endParaRPr lang="vi-VN" sz="12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D57AD87-BF2E-B9DE-06DA-68EE2BCAF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57C32F-8D00-1E53-DDD9-79148892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1505" y="1639632"/>
            <a:ext cx="6640414" cy="3739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028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14F0F-8E4E-033F-44E0-007519653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63493-9486-A73E-DBA4-2614285D3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/>
          <a:p>
            <a:r>
              <a:rPr lang="en-US" dirty="0"/>
              <a:t>3.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khúc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endParaRPr lang="vi-VN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57E04192-14D3-A7FF-734D-EA6465C280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335546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nước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:</a:t>
            </a:r>
          </a:p>
          <a:p>
            <a:r>
              <a:rPr lang="en-US" dirty="0"/>
              <a:t>-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,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thu</a:t>
            </a:r>
            <a:r>
              <a:rPr lang="en-US" dirty="0"/>
              <a:t> </a:t>
            </a:r>
            <a:r>
              <a:rPr lang="en-US" dirty="0" err="1"/>
              <a:t>thấp</a:t>
            </a:r>
            <a:r>
              <a:rPr lang="en-US" dirty="0"/>
              <a:t>. VD: </a:t>
            </a:r>
            <a:r>
              <a:rPr lang="en-US" dirty="0">
                <a:solidFill>
                  <a:srgbClr val="FFFF00"/>
                </a:solidFill>
              </a:rPr>
              <a:t>20735, 21069, 21331, 79063C, 84596J, …</a:t>
            </a:r>
          </a:p>
          <a:p>
            <a:r>
              <a:rPr lang="en-US" dirty="0">
                <a:solidFill>
                  <a:schemeClr val="bg1"/>
                </a:solidFill>
              </a:rPr>
              <a:t>- </a:t>
            </a:r>
            <a:r>
              <a:rPr lang="en-US" dirty="0" err="1">
                <a:solidFill>
                  <a:schemeClr val="bg1"/>
                </a:solidFill>
              </a:rPr>
              <a:t>Nguyên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nhân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có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thể</a:t>
            </a:r>
            <a:r>
              <a:rPr lang="en-US" dirty="0">
                <a:solidFill>
                  <a:schemeClr val="bg1"/>
                </a:solidFill>
              </a:rPr>
              <a:t> do </a:t>
            </a:r>
            <a:r>
              <a:rPr lang="en-US" dirty="0" err="1">
                <a:solidFill>
                  <a:schemeClr val="bg1"/>
                </a:solidFill>
              </a:rPr>
              <a:t>không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phù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hợp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với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nhu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cầu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khách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hàng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hoặc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mặt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hàng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khó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tiếp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cận</a:t>
            </a:r>
            <a:endParaRPr lang="en-US" dirty="0">
              <a:solidFill>
                <a:schemeClr val="bg1"/>
              </a:solidFill>
            </a:endParaRPr>
          </a:p>
          <a:p>
            <a:br>
              <a:rPr lang="en-US" dirty="0"/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284708-0B44-A9B9-6A53-61E181746CEA}"/>
              </a:ext>
            </a:extLst>
          </p:cNvPr>
          <p:cNvSpPr txBox="1"/>
          <p:nvPr/>
        </p:nvSpPr>
        <p:spPr>
          <a:xfrm>
            <a:off x="4900928" y="5379528"/>
            <a:ext cx="66509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Dashboard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phân</a:t>
            </a:r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khúc</a:t>
            </a:r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sản</a:t>
            </a:r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phẩm</a:t>
            </a:r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tại</a:t>
            </a:r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các</a:t>
            </a:r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nước</a:t>
            </a:r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còn</a:t>
            </a:r>
            <a:r>
              <a:rPr lang="en-US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lại</a:t>
            </a:r>
            <a:endParaRPr lang="vi-VN" sz="12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FC3265-82CD-57D9-C9F3-0E0A1FB5C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928" y="1639632"/>
            <a:ext cx="6649741" cy="3739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597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7DD46-B5A8-D608-F9DB-3B58944BC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Cảm</a:t>
            </a:r>
            <a:r>
              <a:rPr lang="en-US" dirty="0"/>
              <a:t> </a:t>
            </a:r>
            <a:r>
              <a:rPr lang="en-US" dirty="0" err="1"/>
              <a:t>ơn</a:t>
            </a:r>
            <a:r>
              <a:rPr lang="en-US" dirty="0"/>
              <a:t> </a:t>
            </a:r>
            <a:r>
              <a:rPr lang="en-US" dirty="0" err="1"/>
              <a:t>anh</a:t>
            </a:r>
            <a:r>
              <a:rPr lang="en-US" dirty="0"/>
              <a:t>/</a:t>
            </a:r>
            <a:r>
              <a:rPr lang="en-US" dirty="0" err="1"/>
              <a:t>chị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!</a:t>
            </a:r>
            <a:endParaRPr lang="vi-V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711954-6A72-F106-CF5F-74C87F49A3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/>
            <a:r>
              <a:rPr lang="en-US" dirty="0" err="1"/>
              <a:t>Nguyễn</a:t>
            </a:r>
            <a:r>
              <a:rPr lang="en-US" dirty="0"/>
              <a:t> </a:t>
            </a:r>
            <a:r>
              <a:rPr lang="en-US" dirty="0" err="1"/>
              <a:t>đình</a:t>
            </a:r>
            <a:r>
              <a:rPr lang="en-US" dirty="0"/>
              <a:t> long</a:t>
            </a:r>
            <a:endParaRPr lang="vi-V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E68E4-557C-3CBE-CD4B-1F38626F6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6521BAD-CD35-440C-B1A9-311AFB591079}" type="datetime1">
              <a:rPr lang="vi-VN" smtClean="0"/>
              <a:t>13/01/2025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74215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9133_TF33552983" id="{FB24624C-BB83-40D4-AEB1-8B8428B3A3C2}" vid="{D4BD5347-EF6D-49F7-874F-8B0FB52BD5A1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{D243F359-4D9D-443E-B15D-B8E2C722EC74}tf33552983_win32</Template>
  <TotalTime>353</TotalTime>
  <Words>878</Words>
  <Application>Microsoft Office PowerPoint</Application>
  <PresentationFormat>Widescreen</PresentationFormat>
  <Paragraphs>64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Segoe UI</vt:lpstr>
      <vt:lpstr>Wingdings 2</vt:lpstr>
      <vt:lpstr>DividendVTI</vt:lpstr>
      <vt:lpstr>Phân tích phân khúc khách hàng</vt:lpstr>
      <vt:lpstr>Mục lục</vt:lpstr>
      <vt:lpstr>1. Tổng quan khách hàng và hành vi mua sắm</vt:lpstr>
      <vt:lpstr>1. Tổng quan khách hàng và hành vi mua sắm</vt:lpstr>
      <vt:lpstr>1. Tổng quan khách hàng và hành vi mua sắm</vt:lpstr>
      <vt:lpstr>1. Tổng quan khách hàng và hành vi mua sắm</vt:lpstr>
      <vt:lpstr>2. Phân tích theo thời gian</vt:lpstr>
      <vt:lpstr>2. Phân tích theo thời gian</vt:lpstr>
      <vt:lpstr>3. Phân khúc sản phẩm</vt:lpstr>
      <vt:lpstr>3. Phân khúc sản phẩm</vt:lpstr>
      <vt:lpstr>3. Phân khúc sản phẩm</vt:lpstr>
      <vt:lpstr>3. Phân khúc sản phẩm</vt:lpstr>
      <vt:lpstr>Cảm ơn anh/chị đã xem bài phân tích!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Long Nguyen Dinh</dc:creator>
  <cp:lastModifiedBy>Long Nguyen Dinh</cp:lastModifiedBy>
  <cp:revision>4</cp:revision>
  <dcterms:created xsi:type="dcterms:W3CDTF">2025-01-07T02:26:17Z</dcterms:created>
  <dcterms:modified xsi:type="dcterms:W3CDTF">2025-01-13T02:00:39Z</dcterms:modified>
</cp:coreProperties>
</file>